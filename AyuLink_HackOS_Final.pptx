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BCA63A5-1CA9-44AA-B9A8-A33417854F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9F17D1C-E85A-47D3-8826-0FA7F8885E9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A19D33D-1E83-4346-95CC-CB1C7CF892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468C7D3-06D9-49C0-BED1-764369FA75E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340398D-2F37-44C6-A00A-11613023AE5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B5A1975-3BE8-4924-8428-3AC0D014565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CFF75C7-B57C-4910-839F-8A499AC9D65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E4881B-5C5F-465A-BD70-4534D795D6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B4D8F39-E20C-4559-AFB7-10506D62EF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E3EDDB-4A56-4F66-8EEB-C0497D42D53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93F3205-2BB2-4A79-BB6C-3A9AC61E1C4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36B39C-21A8-4D60-B590-16D1CC3C95D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9790F1E-0E34-4E81-A47C-BA9B38C0F2BF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hackos.scanskip.com" TargetMode="External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hackos.scanskip.com" TargetMode="External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hackos.scanskip.com" TargetMode="Externa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42" name="Freeform 3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" name="TextBox 4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44" name="Freeform 5"/>
          <p:cNvSpPr/>
          <p:nvPr/>
        </p:nvSpPr>
        <p:spPr>
          <a:xfrm>
            <a:off x="9716040" y="1632600"/>
            <a:ext cx="7660080" cy="6032160"/>
          </a:xfrm>
          <a:custGeom>
            <a:avLst/>
            <a:gdLst/>
            <a:ahLst/>
            <a:rect l="l" t="t" r="r" b="b"/>
            <a:pathLst>
              <a:path w="7660937" h="6032988">
                <a:moveTo>
                  <a:pt x="0" y="0"/>
                </a:moveTo>
                <a:lnTo>
                  <a:pt x="7660937" y="0"/>
                </a:lnTo>
                <a:lnTo>
                  <a:pt x="7660937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Box 6"/>
          <p:cNvSpPr/>
          <p:nvPr/>
        </p:nvSpPr>
        <p:spPr>
          <a:xfrm>
            <a:off x="1028880" y="2721600"/>
            <a:ext cx="9143280" cy="350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3810"/>
              </a:lnSpc>
              <a:buNone/>
            </a:pPr>
            <a:r>
              <a:rPr b="1" lang="en-US" sz="17270" spc="-863" strike="noStrike">
                <a:solidFill>
                  <a:srgbClr val="2563eb"/>
                </a:solidFill>
                <a:latin typeface="Neue Montreal Bold"/>
                <a:ea typeface="Neue Montreal Bold"/>
              </a:rPr>
              <a:t>AyuLink</a:t>
            </a:r>
            <a:endParaRPr b="0" lang="en-US" sz="17270" spc="-1" strike="noStrike">
              <a:latin typeface="Arial"/>
            </a:endParaRPr>
          </a:p>
          <a:p>
            <a:pPr>
              <a:lnSpc>
                <a:spcPts val="1381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6" name="TextBox 7"/>
          <p:cNvSpPr/>
          <p:nvPr/>
        </p:nvSpPr>
        <p:spPr>
          <a:xfrm>
            <a:off x="1198440" y="10098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7" name="TextBox 8"/>
          <p:cNvSpPr/>
          <p:nvPr/>
        </p:nvSpPr>
        <p:spPr>
          <a:xfrm>
            <a:off x="13122720" y="10098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48" name="TextBox 9"/>
          <p:cNvSpPr/>
          <p:nvPr/>
        </p:nvSpPr>
        <p:spPr>
          <a:xfrm>
            <a:off x="228600" y="8169480"/>
            <a:ext cx="491436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600"/>
              </a:lnSpc>
              <a:buNone/>
            </a:pPr>
            <a:r>
              <a:rPr b="0" lang="en-US" sz="3000" spc="-89" strike="noStrike">
                <a:solidFill>
                  <a:srgbClr val="01111d"/>
                </a:solidFill>
                <a:latin typeface="Helvetica World"/>
                <a:ea typeface="Helvetica World"/>
              </a:rPr>
              <a:t>By Team FightClub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49" name="TextBox 10"/>
          <p:cNvSpPr/>
          <p:nvPr/>
        </p:nvSpPr>
        <p:spPr>
          <a:xfrm>
            <a:off x="13546440" y="8407800"/>
            <a:ext cx="314100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3600"/>
              </a:lnSpc>
              <a:buNone/>
            </a:pPr>
            <a:r>
              <a:rPr b="0" lang="en-US" sz="3000" spc="-89" strike="noStrike">
                <a:solidFill>
                  <a:srgbClr val="01111d"/>
                </a:solidFill>
                <a:latin typeface="Helvetica World"/>
                <a:ea typeface="Helvetica World"/>
              </a:rPr>
              <a:t>May 2026</a:t>
            </a:r>
            <a:endParaRPr b="0" lang="en-US" sz="3000" spc="-1" strike="noStrike">
              <a:latin typeface="Arial"/>
            </a:endParaRPr>
          </a:p>
        </p:txBody>
      </p:sp>
      <p:sp>
        <p:nvSpPr>
          <p:cNvPr id="50" name="TextBox 11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2"/>
              </a:rPr>
              <a:t>Healthcare AI Track | Offline-First Rural Emergency Care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1" name="TextBox 11"/>
          <p:cNvSpPr/>
          <p:nvPr/>
        </p:nvSpPr>
        <p:spPr>
          <a:xfrm>
            <a:off x="686160" y="4726440"/>
            <a:ext cx="91432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en-US" sz="2200" spc="-1" strike="noStrike">
                <a:solidFill>
                  <a:srgbClr val="333333"/>
                </a:solidFill>
                <a:latin typeface="Arial"/>
                <a:ea typeface="DejaVu Sans"/>
              </a:rPr>
              <a:t>India's First Offline-First Emergency Healthcare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en-US" sz="2200" spc="-1" strike="noStrike">
                <a:solidFill>
                  <a:srgbClr val="333333"/>
                </a:solidFill>
                <a:latin typeface="Arial"/>
                <a:ea typeface="DejaVu Sans"/>
              </a:rPr>
              <a:t>Infrastructure for Rural Elderly Care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2"/>
          <p:cNvSpPr/>
          <p:nvPr/>
        </p:nvSpPr>
        <p:spPr>
          <a:xfrm>
            <a:off x="1449000" y="1476360"/>
            <a:ext cx="9949680" cy="38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Team Details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53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4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55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56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cap="sq" w="66675">
              <a:solidFill>
                <a:srgbClr val="ab811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58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9" name="TextBox 8"/>
          <p:cNvSpPr/>
          <p:nvPr/>
        </p:nvSpPr>
        <p:spPr>
          <a:xfrm>
            <a:off x="1463040" y="4114800"/>
            <a:ext cx="13715280" cy="340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500" spc="-1" strike="noStrike">
                <a:solidFill>
                  <a:srgbClr val="2563eb"/>
                </a:solidFill>
                <a:latin typeface="Arial"/>
                <a:ea typeface="DejaVu Sans"/>
              </a:rPr>
              <a:t>Team FightClub | Healthcare AI Track |  Health Care Infrastructure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01111d"/>
                </a:solidFill>
                <a:latin typeface="Arial"/>
                <a:ea typeface="DejaVu Sans"/>
              </a:rPr>
              <a:t>Siddhartha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— System Architect &amp; Firmware Lead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01111d"/>
                </a:solidFill>
                <a:latin typeface="Arial"/>
                <a:ea typeface="DejaVu Sans"/>
              </a:rPr>
              <a:t>Anirudh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— Full-Stack &amp; AI Integration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01111d"/>
                </a:solidFill>
                <a:latin typeface="Arial"/>
                <a:ea typeface="DejaVu Sans"/>
              </a:rPr>
              <a:t>Institution: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SR University, Warangal, Telangana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01111d"/>
                </a:solidFill>
                <a:latin typeface="Arial"/>
                <a:ea typeface="DejaVu Sans"/>
              </a:rPr>
              <a:t>Built With: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ESP32 + LoRa 433MHz + FastAPI + Next.js 14 + Groq LLaMA 3.1 + Telegram Bot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01111d"/>
                </a:solidFill>
                <a:latin typeface="Arial"/>
                <a:ea typeface="DejaVu Sans"/>
              </a:rPr>
              <a:t>Codebase: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28,000+ lines | 3 custom firmware builds | 38 React components | 7 portals</a:t>
            </a:r>
            <a:endParaRPr b="0" lang="en-US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2"/>
          <p:cNvSpPr/>
          <p:nvPr/>
        </p:nvSpPr>
        <p:spPr>
          <a:xfrm>
            <a:off x="1449000" y="1476360"/>
            <a:ext cx="13313520" cy="38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Problem Statement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63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64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66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7" name="TextBox 8"/>
          <p:cNvSpPr/>
          <p:nvPr/>
        </p:nvSpPr>
        <p:spPr>
          <a:xfrm>
            <a:off x="1463040" y="4114800"/>
            <a:ext cx="13715280" cy="376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300" spc="-1" strike="noStrike">
                <a:solidFill>
                  <a:srgbClr val="2563eb"/>
                </a:solidFill>
                <a:latin typeface="Arial"/>
                <a:ea typeface="DejaVu Sans"/>
              </a:rPr>
              <a:t>"A fall in rural India can become a death sentence — because nobody knows it happened."</a:t>
            </a:r>
            <a:endParaRPr b="0" lang="en-US" sz="2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47-minute average emergency response in rural India vs 8 minutes in cities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65% of rural India has ZERO health monitoring infrastructure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Only 35% have reliable internet — telemedicine simply doesn't work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1 PHC serves 30,000+ people — doctors can't monitor everyone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800M+ Indians have no smartphone — app-based solutions exclude them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61% medication adherence without reminders → preventable hospitalizations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Core Problem: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Nobody knows the emergency happened.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Critical Window: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Falls need &lt; 15 min response. Cardiac events &lt; 8 min.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2"/>
          <p:cNvSpPr/>
          <p:nvPr/>
        </p:nvSpPr>
        <p:spPr>
          <a:xfrm>
            <a:off x="1251360" y="1650600"/>
            <a:ext cx="11549880" cy="13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0400"/>
              </a:lnSpc>
              <a:buNone/>
            </a:pPr>
            <a:r>
              <a:rPr b="1" lang="en-US" sz="13000" spc="-650" strike="noStrike">
                <a:solidFill>
                  <a:srgbClr val="2563eb"/>
                </a:solidFill>
                <a:latin typeface="Neue Montreal Bold"/>
                <a:ea typeface="Neue Montreal Bold"/>
              </a:rPr>
              <a:t>Introduction</a:t>
            </a:r>
            <a:endParaRPr b="0" lang="en-US" sz="13000" spc="-1" strike="noStrike"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71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72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cap="sq" w="66675">
              <a:solidFill>
                <a:srgbClr val="ab811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4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1463040" y="3200400"/>
            <a:ext cx="13715280" cy="44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300" spc="-1" strike="noStrike">
                <a:solidFill>
                  <a:srgbClr val="2563eb"/>
                </a:solidFill>
                <a:latin typeface="Arial"/>
                <a:ea typeface="DejaVu Sans"/>
              </a:rPr>
              <a:t>AyuLink — Healthcare Without Boundaries</a:t>
            </a:r>
            <a:endParaRPr b="0" lang="en-US" sz="23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AyuLink is an offline-first rural healthcare emergency infrastructure that detects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patient emergencies in real-time using IoT wearables and LoRa radio, WITHOUT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requiring WiFi, smartphones, or internet at the patient's home.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Not an app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— it's physical infrastructure deployed at the village level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Not cloud-dependent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— works on LoRa 433MHz radio (5-15km range)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Not smartphone-dependent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— wristband + gateway handles everything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Not simulated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— actual working hardware, live demo ready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900" spc="-1" strike="noStrike">
                <a:solidFill>
                  <a:srgbClr val="01111d"/>
                </a:solidFill>
                <a:latin typeface="Arial"/>
                <a:ea typeface="DejaVu Sans"/>
              </a:rPr>
              <a:t>The AyuLink Promise:</a:t>
            </a: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 Fall detection → family notification in &lt; 3 seconds,</a:t>
            </a:r>
            <a:endParaRPr b="0" lang="en-US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900" spc="-1" strike="noStrike">
                <a:solidFill>
                  <a:srgbClr val="333333"/>
                </a:solidFill>
                <a:latin typeface="Arial"/>
                <a:ea typeface="DejaVu Sans"/>
              </a:rPr>
              <a:t>across 5+ kilometers, with ZERO internet at the patient site.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2"/>
          <p:cNvSpPr/>
          <p:nvPr/>
        </p:nvSpPr>
        <p:spPr>
          <a:xfrm>
            <a:off x="1449000" y="1562040"/>
            <a:ext cx="13313520" cy="14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1200"/>
              </a:lnSpc>
              <a:buNone/>
            </a:pPr>
            <a:r>
              <a:rPr b="1" lang="en-US" sz="14000" spc="-701" strike="noStrike">
                <a:solidFill>
                  <a:srgbClr val="2563eb"/>
                </a:solidFill>
                <a:latin typeface="Neue Montreal Bold"/>
                <a:ea typeface="Neue Montreal Bold"/>
              </a:rPr>
              <a:t>Objectives</a:t>
            </a:r>
            <a:endParaRPr b="0" lang="en-US" sz="14000" spc="-1" strike="noStrike"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79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80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2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3" name="TextBox 8"/>
          <p:cNvSpPr/>
          <p:nvPr/>
        </p:nvSpPr>
        <p:spPr>
          <a:xfrm>
            <a:off x="1463040" y="3474720"/>
            <a:ext cx="13715280" cy="24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1.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DETECT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medical emergencies (falls, cardiac distress, SOS) within seconds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2.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ALERT 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family + PHC + ASHA workers via multilingual Telegram with voice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3.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MONITOR 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vitals (HR, SpO2, temperature, BP) continuously — zero patient effort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4.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TRACK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 medication adherence via IoT smart pill dispenser (96% compliance)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5.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TRIAGE 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emergencies using AI risk scoring (Groq LLaMA 3.1)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6.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BRIDGE 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last-mile connectivity via LoRa mesh networking (5-15km range)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7. </a:t>
            </a:r>
            <a:r>
              <a:rPr b="1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EMPOWER </a:t>
            </a:r>
            <a:r>
              <a:rPr b="0" lang="en-US" sz="2100" spc="-1" strike="noStrike">
                <a:solidFill>
                  <a:srgbClr val="333333"/>
                </a:solidFill>
                <a:latin typeface="Arial"/>
                <a:ea typeface="DejaVu Sans"/>
              </a:rPr>
              <a:t>non-technical users with multilingual interfaces (EN/TE/HI)</a:t>
            </a:r>
            <a:endParaRPr b="0" lang="en-US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Box 2"/>
          <p:cNvSpPr/>
          <p:nvPr/>
        </p:nvSpPr>
        <p:spPr>
          <a:xfrm>
            <a:off x="1089360" y="1167840"/>
            <a:ext cx="12813120" cy="38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Scope of the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 </a:t>
            </a: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Project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87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88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cap="sq" w="66675">
              <a:solidFill>
                <a:srgbClr val="ab811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1" name="TextBox 8"/>
          <p:cNvSpPr/>
          <p:nvPr/>
        </p:nvSpPr>
        <p:spPr>
          <a:xfrm>
            <a:off x="1463040" y="4114800"/>
            <a:ext cx="13715280" cy="400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Current Implementation (Working Today)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ESP32 wearable wristband with real MPU6050 fall detection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LoRa 433MHz telemetry — 5km+ range, zero internet dependency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SOS emergency button with instant alert pipeline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Smart pill dispenser — 4-slot servo with RTC scheduling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PHC dashboard with real-time vitals monitoring (Next.js 14)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Family Telegram bot — multilingual voice alerts (Telugu/Hindi/English)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AI triage agent (Groq LLaMA 3.1) with risk scoring 0-100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ESP32-CAM live video feed for remote family monitoring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Future Scope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LoRa mesh relay for 15km+ village-to-village coverage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GPS ambulance dispatch with ETA | ABHA integration | Solar-powered gateway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2"/>
          <p:cNvSpPr/>
          <p:nvPr/>
        </p:nvSpPr>
        <p:spPr>
          <a:xfrm>
            <a:off x="686160" y="1143000"/>
            <a:ext cx="13925160" cy="36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Proposed System / Methodology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9601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95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96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8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9" name="TextBox 8"/>
          <p:cNvSpPr/>
          <p:nvPr/>
        </p:nvSpPr>
        <p:spPr>
          <a:xfrm>
            <a:off x="914760" y="3647880"/>
            <a:ext cx="13715280" cy="52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Data Flow: Wristband → LoRa → Gateway → Backend → Dashboard + Telegram + AI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Layer 1 — Patient (Offline):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ESP32 Wristband → MPU6050 (fall) + KY-039 (HR) + SOS Button → LoRa TX @ 433MHz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Layer 2 — Village Gateway (Bridge):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ESP32 Gateway → receives LoRa → OLED + Buzzer → forwards via WiFi WebSocket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Layer 3 — Backend (Intelligence):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FastAPI → Threshold Engine → AI Triage (Groq) → SQLite → WebSocket broadcast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Layer 4 — Stakeholders (Action):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PHC Dashboard | Family Telegram Bot | ASHA Worker Portal | Paramedic Console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Emergency Path (&lt; 3s):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SOS/Fall → LoRa → Gateway → Backend → Telegram + Dashboard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700" spc="-1" strike="noStrike">
                <a:solidFill>
                  <a:srgbClr val="01111d"/>
                </a:solidFill>
                <a:latin typeface="Arial"/>
                <a:ea typeface="DejaVu Sans"/>
              </a:rPr>
              <a:t>Key: Patient needs ZERO internet, ZERO smartphone. Only the wristband.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"/>
          <p:cNvSpPr/>
          <p:nvPr/>
        </p:nvSpPr>
        <p:spPr>
          <a:xfrm>
            <a:off x="1449000" y="1476360"/>
            <a:ext cx="11117160" cy="38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Technology Stack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03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104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cap="sq" w="66675">
              <a:solidFill>
                <a:srgbClr val="ab811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6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1463040" y="4114800"/>
            <a:ext cx="13715280" cy="306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Wearable: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ESP32 + MPU6050 (fall) + KY-039 (HR) + SH1106 OLED + SOS button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Communication: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LoRa SX1278 433MHz, SF10, CRC — 5-15km, offline telemetry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Gateway: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ESP32 DevKit + WebSocket client + RGB LED + OLED (5-page display)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Backend: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FastAPI + WebSocket + SQLite (WAL) + async event pipeline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AI/ML: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Groq LLaMA 3.1 (8B) — medical triage, risk scoring, mental health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Frontend: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Next.js 14 + TypeScript + Tailwind — 7 stakeholder portals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Notifications: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Telegram Bot API + gTTS — multilingual voice + text alerts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Dispenser: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NodeMCU ESP8266 + SG90 Servo + DS3231 RTC + DHT11 + MQ-135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Camera: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ESP32-CAM (OV2640) — live MJPEG stream via proxy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Firmware: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PlatformIO C++ — non-blocking state machines, no delay()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2"/>
          <p:cNvSpPr/>
          <p:nvPr/>
        </p:nvSpPr>
        <p:spPr>
          <a:xfrm>
            <a:off x="1449000" y="1476360"/>
            <a:ext cx="13313520" cy="38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Proposed Features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09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11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112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1463040" y="4114800"/>
            <a:ext cx="13715280" cy="482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1. Offline Emergency Detection (&lt; 3 seconds)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Fall via 6-axis IMU jerk analysis | SOS button | Sustained LoRa flags (20s window)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2. LoRa Mesh Infrastructure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Zero WiFi/4G/smartphone needed | 5km per node | Coprime retry timing for guaranteed delivery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3. AI-Powered Medical Triage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Real-time risk scoring 0-100 | Clinical decision support | Mental health detection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4. Multilingual Family Notifications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Voice alerts in Telugu/Hindi/English | One-tap 108 ambulance | Camera snapshots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5. Smart Medication Adherence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4-slot IoT dispenser + RTC scheduling | 96% adherence (vs 61% manual) | Air quality + flame alerts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2"/>
          <p:cNvSpPr/>
          <p:nvPr/>
        </p:nvSpPr>
        <p:spPr>
          <a:xfrm>
            <a:off x="1449000" y="1476360"/>
            <a:ext cx="12590640" cy="386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Expected Outcome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17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18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19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120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cap="sq" w="66675">
              <a:solidFill>
                <a:srgbClr val="ab8115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2" name="TextBox 8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3" name="TextBox 8"/>
          <p:cNvSpPr/>
          <p:nvPr/>
        </p:nvSpPr>
        <p:spPr>
          <a:xfrm>
            <a:off x="1463040" y="4114800"/>
            <a:ext cx="13715280" cy="422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200" spc="-1" strike="noStrike">
                <a:solidFill>
                  <a:srgbClr val="2563eb"/>
                </a:solidFill>
                <a:latin typeface="Arial"/>
                <a:ea typeface="DejaVu Sans"/>
              </a:rPr>
              <a:t>Impact Metrics: Without AyuLink → With AyuLink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Emergency Response: 45+ minutes → &lt; 3 minutes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Medication Adherence: 61% → 96%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Internet Required: YES → NO (LoRa)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Smartphone Required: YES → NO (wristband)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Coverage Range: 30m (WiFi) → 5-15km (LoRa)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Cost per Patient/Month: ₹500+ → ₹18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Fall Detection: None → Real-time (&lt; 2s)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• 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Family Awareness: Zero → Instant multilingual voice alerts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1800" spc="-1" strike="noStrike">
                <a:solidFill>
                  <a:srgbClr val="01111d"/>
                </a:solidFill>
                <a:latin typeface="Arial"/>
                <a:ea typeface="DejaVu Sans"/>
              </a:rPr>
              <a:t>Who Benefits:</a:t>
            </a: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 770M rural Indians gain emergency access | ASHA workers get digital cockpits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800" spc="-1" strike="noStrike">
                <a:solidFill>
                  <a:srgbClr val="333333"/>
                </a:solidFill>
                <a:latin typeface="Arial"/>
                <a:ea typeface="DejaVu Sans"/>
              </a:rPr>
              <a:t>PHC doctors get real-time monitoring | Families get peace of mind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/>
          <p:nvPr/>
        </p:nvSpPr>
        <p:spPr>
          <a:xfrm>
            <a:off x="1449000" y="1476360"/>
            <a:ext cx="13313520" cy="507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9601"/>
              </a:lnSpc>
              <a:buNone/>
            </a:pPr>
            <a:r>
              <a:rPr b="1" lang="en-US" sz="12000" spc="-602" strike="noStrike">
                <a:solidFill>
                  <a:srgbClr val="2563eb"/>
                </a:solidFill>
                <a:latin typeface="Neue Montreal Bold"/>
                <a:ea typeface="Neue Montreal Bold"/>
              </a:rPr>
              <a:t>Any Other Relevant Information </a:t>
            </a:r>
            <a:endParaRPr b="0" lang="en-US" sz="12000" spc="-1" strike="noStrike">
              <a:latin typeface="Arial"/>
            </a:endParaRPr>
          </a:p>
          <a:p>
            <a:pPr>
              <a:lnSpc>
                <a:spcPts val="112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125" name="TextBox 3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grpSp>
        <p:nvGrpSpPr>
          <p:cNvPr id="127" name="Group 5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128" name="Freeform 6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TextBox 7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0" name="TextBox 8"/>
          <p:cNvSpPr/>
          <p:nvPr/>
        </p:nvSpPr>
        <p:spPr>
          <a:xfrm>
            <a:off x="228600" y="9372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1"/>
              </a:rPr>
              <a:t>https://hackos.scanskip.com/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1449000" y="5029200"/>
            <a:ext cx="12938400" cy="325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1. We Built Actual Hardware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Working ESP32 wristband, gateway, dispenser, camera — live demo ready right now.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2. Aligned with National Digital Health Mission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ABHA-compatible | ASHA workflow digitization | PHC-level deployment ready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3. Scalable Unit Economics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₹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800/wristband | ₹1,200/gateway (50+ patients) | ₹600/dispenser | Village: &lt; ₹5,000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1" lang="en-US" sz="2100" spc="-1" strike="noStrike">
                <a:solidFill>
                  <a:srgbClr val="2563eb"/>
                </a:solidFill>
                <a:latin typeface="Arial"/>
                <a:ea typeface="DejaVu Sans"/>
              </a:rPr>
              <a:t>4. Technical Credibility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28,000+ lines of production code | 3 custom PlatformIO firmware builds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  </a:t>
            </a: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38 React components | Full WebSocket real-time pipeline | 7 stakeholder portals</a:t>
            </a:r>
            <a:endParaRPr b="0" lang="en-US" sz="17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799"/>
              </a:spcBef>
              <a:spcAft>
                <a:spcPts val="201"/>
              </a:spcAft>
              <a:buNone/>
            </a:pPr>
            <a:r>
              <a:rPr b="0" lang="en-US" sz="1700" spc="-1" strike="noStrike">
                <a:solidFill>
                  <a:srgbClr val="333333"/>
                </a:solidFill>
                <a:latin typeface="Arial"/>
                <a:ea typeface="DejaVu Sans"/>
              </a:rPr>
              <a:t>PHC subscription | Government tenders | CSR funding | Pilot-ready for Warangal PHCs</a:t>
            </a:r>
            <a:endParaRPr b="0" lang="en-US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" name="Group 2"/>
          <p:cNvGrpSpPr/>
          <p:nvPr/>
        </p:nvGrpSpPr>
        <p:grpSpPr>
          <a:xfrm>
            <a:off x="0" y="8875800"/>
            <a:ext cx="18287280" cy="1410480"/>
            <a:chOff x="0" y="8875800"/>
            <a:chExt cx="18287280" cy="1410480"/>
          </a:xfrm>
        </p:grpSpPr>
        <p:sp>
          <p:nvSpPr>
            <p:cNvPr id="133" name="Freeform 3"/>
            <p:cNvSpPr/>
            <p:nvPr/>
          </p:nvSpPr>
          <p:spPr>
            <a:xfrm>
              <a:off x="0" y="8912160"/>
              <a:ext cx="18287280" cy="1374120"/>
            </a:xfrm>
            <a:custGeom>
              <a:avLst/>
              <a:gdLst/>
              <a:ahLst/>
              <a:rect l="l" t="t" r="r" b="b"/>
              <a:pathLst>
                <a:path w="4816592" h="362129">
                  <a:moveTo>
                    <a:pt x="0" y="0"/>
                  </a:moveTo>
                  <a:lnTo>
                    <a:pt x="4816592" y="0"/>
                  </a:lnTo>
                  <a:lnTo>
                    <a:pt x="4816592" y="362129"/>
                  </a:lnTo>
                  <a:lnTo>
                    <a:pt x="0" y="362129"/>
                  </a:lnTo>
                  <a:close/>
                </a:path>
              </a:pathLst>
            </a:custGeom>
            <a:solidFill>
              <a:srgbClr val="2563e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TextBox 4"/>
            <p:cNvSpPr/>
            <p:nvPr/>
          </p:nvSpPr>
          <p:spPr>
            <a:xfrm>
              <a:off x="0" y="8875800"/>
              <a:ext cx="18287280" cy="1410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5" name="Freeform 5"/>
          <p:cNvSpPr/>
          <p:nvPr/>
        </p:nvSpPr>
        <p:spPr>
          <a:xfrm>
            <a:off x="9598320" y="1687680"/>
            <a:ext cx="7660080" cy="6032160"/>
          </a:xfrm>
          <a:custGeom>
            <a:avLst/>
            <a:gdLst/>
            <a:ahLst/>
            <a:rect l="l" t="t" r="r" b="b"/>
            <a:pathLst>
              <a:path w="7660937" h="6032988">
                <a:moveTo>
                  <a:pt x="0" y="0"/>
                </a:moveTo>
                <a:lnTo>
                  <a:pt x="7660937" y="0"/>
                </a:lnTo>
                <a:lnTo>
                  <a:pt x="7660937" y="6032988"/>
                </a:lnTo>
                <a:lnTo>
                  <a:pt x="0" y="6032988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Box 6"/>
          <p:cNvSpPr/>
          <p:nvPr/>
        </p:nvSpPr>
        <p:spPr>
          <a:xfrm>
            <a:off x="1028880" y="1219680"/>
            <a:ext cx="8569080" cy="467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18400"/>
              </a:lnSpc>
              <a:buNone/>
            </a:pPr>
            <a:r>
              <a:rPr b="1" lang="en-US" sz="20000" spc="-1149" strike="noStrike">
                <a:solidFill>
                  <a:srgbClr val="2563eb"/>
                </a:solidFill>
                <a:latin typeface="Neue Montreal Bold"/>
                <a:ea typeface="Neue Montreal Bold"/>
              </a:rPr>
              <a:t>Thank </a:t>
            </a:r>
            <a:endParaRPr b="0" lang="en-US" sz="20000" spc="-1" strike="noStrike">
              <a:latin typeface="Arial"/>
            </a:endParaRPr>
          </a:p>
          <a:p>
            <a:pPr>
              <a:lnSpc>
                <a:spcPts val="18400"/>
              </a:lnSpc>
              <a:buNone/>
            </a:pPr>
            <a:r>
              <a:rPr b="1" lang="en-US" sz="20000" spc="-1149" strike="noStrike">
                <a:solidFill>
                  <a:srgbClr val="2563eb"/>
                </a:solidFill>
                <a:latin typeface="Neue Montreal Bold"/>
                <a:ea typeface="Neue Montreal Bold"/>
              </a:rPr>
              <a:t>You</a:t>
            </a:r>
            <a:endParaRPr b="0" lang="en-US" sz="20000" spc="-1" strike="noStrike">
              <a:latin typeface="Arial"/>
            </a:endParaRPr>
          </a:p>
        </p:txBody>
      </p:sp>
      <p:sp>
        <p:nvSpPr>
          <p:cNvPr id="137" name="TextBox 7"/>
          <p:cNvSpPr/>
          <p:nvPr/>
        </p:nvSpPr>
        <p:spPr>
          <a:xfrm>
            <a:off x="1198440" y="453600"/>
            <a:ext cx="25743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Tattvasphere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13122720" y="453600"/>
            <a:ext cx="396612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ts val="2880"/>
              </a:lnSpc>
              <a:buNone/>
            </a:pPr>
            <a:r>
              <a:rPr b="0" lang="en-US" sz="2400" spc="-1" strike="noStrike">
                <a:solidFill>
                  <a:srgbClr val="01111d"/>
                </a:solidFill>
                <a:latin typeface="Poppins"/>
                <a:ea typeface="Poppins"/>
              </a:rPr>
              <a:t>ScanSkip HackOS-ONE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39" name="TextBox 9"/>
          <p:cNvSpPr/>
          <p:nvPr/>
        </p:nvSpPr>
        <p:spPr>
          <a:xfrm>
            <a:off x="333720" y="9399600"/>
            <a:ext cx="52376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ts val="2880"/>
              </a:lnSpc>
              <a:buNone/>
            </a:pPr>
            <a:r>
              <a:rPr b="0" lang="en-US" sz="2400" spc="-1" strike="noStrike" u="sng">
                <a:solidFill>
                  <a:srgbClr val="0000ff"/>
                </a:solidFill>
                <a:uFillTx/>
                <a:latin typeface="Poppins"/>
                <a:ea typeface="Poppins"/>
                <a:hlinkClick r:id="rId2"/>
              </a:rPr>
              <a:t>Team FightClub | AyuLink | SR University, Warangal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DAHHZdD3APc</dc:identifier>
  <dc:language>en-US</dc:language>
  <cp:lastModifiedBy/>
  <dcterms:modified xsi:type="dcterms:W3CDTF">2026-05-19T18:32:05Z</dcterms:modified>
  <cp:revision>4</cp:revision>
  <dc:subject/>
  <dc:title>Tattvasphere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